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5537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-457200"/>
            <a:ext cx="3200400" cy="3200400"/>
          </a:xfrm>
          <a:prstGeom prst="ellipse">
            <a:avLst/>
          </a:prstGeom>
          <a:solidFill>
            <a:srgbClr val="065A82">
              <a:alpha val="30000"/>
            </a:srgbClr>
          </a:solidFill>
          <a:ln w="12700">
            <a:solidFill>
              <a:srgbClr val="065A8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0" y="2743200"/>
            <a:ext cx="2011680" cy="2011680"/>
          </a:xfrm>
          <a:prstGeom prst="ellipse">
            <a:avLst/>
          </a:prstGeom>
          <a:solidFill>
            <a:srgbClr val="1C7293">
              <a:alpha val="4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0" y="2560320"/>
            <a:ext cx="1097280" cy="1097280"/>
          </a:xfrm>
          <a:prstGeom prst="ellipse">
            <a:avLst/>
          </a:prstGeom>
          <a:solidFill>
            <a:srgbClr val="02C39A">
              <a:alpha val="50000"/>
            </a:srgbClr>
          </a:solidFill>
          <a:ln w="12700">
            <a:solidFill>
              <a:srgbClr val="02C39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005840"/>
            <a:ext cx="201168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0058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1B2F"/>
                </a:solidFill>
              </a:rPr>
              <a:t>IT PROJECT · TEAM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6858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TableMind AI</a:t>
            </a:r>
            <a:endParaRPr lang="en-US" sz="6200" dirty="0"/>
          </a:p>
        </p:txBody>
      </p:sp>
      <p:sp>
        <p:nvSpPr>
          <p:cNvPr id="9" name="Text 7"/>
          <p:cNvSpPr/>
          <p:nvPr/>
        </p:nvSpPr>
        <p:spPr>
          <a:xfrm>
            <a:off x="502920" y="28346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02C39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Smart Restaurant Ordering Platform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02920" y="3520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F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ordering · Real-time operations · Seamless experience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4572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1920240" cy="2926080"/>
          </a:xfrm>
          <a:prstGeom prst="rect">
            <a:avLst/>
          </a:prstGeom>
          <a:solidFill>
            <a:srgbClr val="0A2A3F"/>
          </a:solidFill>
          <a:ln w="1905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1920240" cy="640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1417320"/>
            <a:ext cx="914400" cy="914400"/>
          </a:xfrm>
          <a:prstGeom prst="ellipse">
            <a:avLst/>
          </a:prstGeom>
          <a:solidFill>
            <a:srgbClr val="1C7293">
              <a:alpha val="80000"/>
            </a:srgbClr>
          </a:solidFill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143560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1856232" y="1325880"/>
            <a:ext cx="329184" cy="32918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856232" y="1325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1B2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46888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Le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77240" y="3063240"/>
            <a:ext cx="1005840" cy="274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31546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C729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Backend Developer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514600" y="1234440"/>
            <a:ext cx="1920240" cy="2926080"/>
          </a:xfrm>
          <a:prstGeom prst="rect">
            <a:avLst/>
          </a:prstGeom>
          <a:solidFill>
            <a:srgbClr val="0A2A3F"/>
          </a:solidFill>
          <a:ln w="1905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514600" y="1234440"/>
            <a:ext cx="192024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017520" y="1417320"/>
            <a:ext cx="914400" cy="914400"/>
          </a:xfrm>
          <a:prstGeom prst="ellipse">
            <a:avLst/>
          </a:prstGeom>
          <a:solidFill>
            <a:srgbClr val="02C39A">
              <a:alpha val="80000"/>
            </a:srgbClr>
          </a:solidFill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017520" y="143560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📝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4050792" y="1325880"/>
            <a:ext cx="329184" cy="32918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050792" y="1325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1B2F"/>
                </a:solidFill>
              </a:rPr>
              <a:t>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06040" y="246888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Mackenzie Lin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2971800" y="3063240"/>
            <a:ext cx="1005840" cy="274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606040" y="31546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2C39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Documentation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09160" y="1234440"/>
            <a:ext cx="1920240" cy="2926080"/>
          </a:xfrm>
          <a:prstGeom prst="rect">
            <a:avLst/>
          </a:prstGeom>
          <a:solidFill>
            <a:srgbClr val="0A2A3F"/>
          </a:solidFill>
          <a:ln w="19050">
            <a:solidFill>
              <a:srgbClr val="F9A03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09160" y="1234440"/>
            <a:ext cx="1920240" cy="64008"/>
          </a:xfrm>
          <a:prstGeom prst="rect">
            <a:avLst/>
          </a:prstGeom>
          <a:solidFill>
            <a:srgbClr val="F9A03F"/>
          </a:solidFill>
          <a:ln w="12700">
            <a:solidFill>
              <a:srgbClr val="F9A0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212080" y="1417320"/>
            <a:ext cx="914400" cy="914400"/>
          </a:xfrm>
          <a:prstGeom prst="ellipse">
            <a:avLst/>
          </a:prstGeom>
          <a:solidFill>
            <a:srgbClr val="F9A03F">
              <a:alpha val="80000"/>
            </a:srgbClr>
          </a:solidFill>
          <a:ln w="25400">
            <a:solidFill>
              <a:srgbClr val="F9A0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212080" y="143560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27" name="Shape 25"/>
          <p:cNvSpPr/>
          <p:nvPr/>
        </p:nvSpPr>
        <p:spPr>
          <a:xfrm>
            <a:off x="6245352" y="1325880"/>
            <a:ext cx="329184" cy="329184"/>
          </a:xfrm>
          <a:prstGeom prst="ellipse">
            <a:avLst/>
          </a:prstGeom>
          <a:solidFill>
            <a:srgbClr val="F9A03F"/>
          </a:solidFill>
          <a:ln w="12700">
            <a:solidFill>
              <a:srgbClr val="F9A0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245352" y="1325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1B2F"/>
                </a:solidFill>
              </a:rPr>
              <a:t>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00600" y="246888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Jonny Yu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5166360" y="3063240"/>
            <a:ext cx="1005840" cy="27432"/>
          </a:xfrm>
          <a:prstGeom prst="rect">
            <a:avLst/>
          </a:prstGeom>
          <a:solidFill>
            <a:srgbClr val="F9A03F"/>
          </a:solidFill>
          <a:ln w="12700">
            <a:solidFill>
              <a:srgbClr val="F9A0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00600" y="31546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9A03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Integration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903720" y="1234440"/>
            <a:ext cx="1920240" cy="2926080"/>
          </a:xfrm>
          <a:prstGeom prst="rect">
            <a:avLst/>
          </a:prstGeom>
          <a:solidFill>
            <a:srgbClr val="0A2A3F"/>
          </a:solidFill>
          <a:ln w="19050">
            <a:solidFill>
              <a:srgbClr val="E05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903720" y="1234440"/>
            <a:ext cx="1920240" cy="64008"/>
          </a:xfrm>
          <a:prstGeom prst="rect">
            <a:avLst/>
          </a:prstGeom>
          <a:solidFill>
            <a:srgbClr val="E05A8A"/>
          </a:solidFill>
          <a:ln w="12700">
            <a:solidFill>
              <a:srgbClr val="E05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406640" y="1417320"/>
            <a:ext cx="914400" cy="914400"/>
          </a:xfrm>
          <a:prstGeom prst="ellipse">
            <a:avLst/>
          </a:prstGeom>
          <a:solidFill>
            <a:srgbClr val="E05A8A">
              <a:alpha val="80000"/>
            </a:srgbClr>
          </a:solidFill>
          <a:ln w="25400">
            <a:solidFill>
              <a:srgbClr val="E05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406640" y="143560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🎨</a:t>
            </a:r>
            <a:endParaRPr lang="en-US" sz="2600" dirty="0"/>
          </a:p>
        </p:txBody>
      </p:sp>
      <p:sp>
        <p:nvSpPr>
          <p:cNvPr id="36" name="Shape 34"/>
          <p:cNvSpPr/>
          <p:nvPr/>
        </p:nvSpPr>
        <p:spPr>
          <a:xfrm>
            <a:off x="8439912" y="1325880"/>
            <a:ext cx="329184" cy="329184"/>
          </a:xfrm>
          <a:prstGeom prst="ellipse">
            <a:avLst/>
          </a:prstGeom>
          <a:solidFill>
            <a:srgbClr val="E05A8A"/>
          </a:solidFill>
          <a:ln w="12700">
            <a:solidFill>
              <a:srgbClr val="E05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439912" y="1325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1B2F"/>
                </a:solidFill>
              </a:rPr>
              <a:t>4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995160" y="246888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Diego Mayne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7360920" y="3063240"/>
            <a:ext cx="1005840" cy="27432"/>
          </a:xfrm>
          <a:prstGeom prst="rect">
            <a:avLst/>
          </a:prstGeom>
          <a:solidFill>
            <a:srgbClr val="E05A8A"/>
          </a:solidFill>
          <a:ln w="12700">
            <a:solidFill>
              <a:srgbClr val="E05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995160" y="31546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05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Frontend Developer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023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73152" cy="1828800"/>
          </a:xfrm>
          <a:prstGeom prst="rect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38912" y="143560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⏳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097280" y="141732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Wait Times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1856232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60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Customers wait to flag staff for menus,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A60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orders, and assistance — hurting satisfaction.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846320" y="1234440"/>
            <a:ext cx="4023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46320" y="1234440"/>
            <a:ext cx="73152" cy="1828800"/>
          </a:xfrm>
          <a:prstGeom prst="rect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10912" y="143560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❌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669280" y="141732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Errors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669280" y="1856232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60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Manual order-taking leads to mistakes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A60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and miscommunications between tables and kitchen.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4320" y="3154680"/>
            <a:ext cx="4023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3154680"/>
            <a:ext cx="73152" cy="1828800"/>
          </a:xfrm>
          <a:prstGeom prst="rect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38912" y="33558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🤷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097280" y="33375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Personalization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97280" y="3776472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60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Customers have no guidance for allergens,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A60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budget limits, or dietary preferences.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846320" y="3154680"/>
            <a:ext cx="4023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46320" y="3154680"/>
            <a:ext cx="73152" cy="1828800"/>
          </a:xfrm>
          <a:prstGeom prst="rect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10912" y="33558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669280" y="33375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Analytics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669280" y="3776472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60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Restaurant owners lack real-time insight into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A60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sales performance and best-selling items.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TableMind AI?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i="1" dirty="0">
                <a:solidFill>
                  <a:srgbClr val="9BBFC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 AI-powered restaurant platform that connects customers, staff, and administrators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i="1" dirty="0">
                <a:solidFill>
                  <a:srgbClr val="9BBFC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into one seamless real-time experience.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365760" y="2057400"/>
            <a:ext cx="2606040" cy="2743200"/>
          </a:xfrm>
          <a:prstGeom prst="rect">
            <a:avLst/>
          </a:prstGeom>
          <a:solidFill>
            <a:srgbClr val="0A2A3F"/>
          </a:solidFill>
          <a:ln w="1905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2057400"/>
            <a:ext cx="260604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229868" y="2148840"/>
            <a:ext cx="877824" cy="877824"/>
          </a:xfrm>
          <a:prstGeom prst="ellipse">
            <a:avLst/>
          </a:prstGeom>
          <a:solidFill>
            <a:srgbClr val="02C39A">
              <a:alpha val="80000"/>
            </a:srgbClr>
          </a:solidFill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29868" y="2167128"/>
            <a:ext cx="8778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👤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7200" y="312724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3547872"/>
            <a:ext cx="1691640" cy="274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361188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F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Scan QR code · Browse menu · AI recommendations · Place orders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2057400"/>
            <a:ext cx="2606040" cy="2743200"/>
          </a:xfrm>
          <a:prstGeom prst="rect">
            <a:avLst/>
          </a:prstGeom>
          <a:solidFill>
            <a:srgbClr val="0A2A3F"/>
          </a:solidFill>
          <a:ln w="19050">
            <a:solidFill>
              <a:srgbClr val="F9A03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0" y="2057400"/>
            <a:ext cx="2606040" cy="54864"/>
          </a:xfrm>
          <a:prstGeom prst="rect">
            <a:avLst/>
          </a:prstGeom>
          <a:solidFill>
            <a:srgbClr val="F9A03F"/>
          </a:solidFill>
          <a:ln w="12700">
            <a:solidFill>
              <a:srgbClr val="F9A0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064508" y="2148840"/>
            <a:ext cx="877824" cy="877824"/>
          </a:xfrm>
          <a:prstGeom prst="ellipse">
            <a:avLst/>
          </a:prstGeom>
          <a:solidFill>
            <a:srgbClr val="F9A03F">
              <a:alpha val="80000"/>
            </a:srgbClr>
          </a:solidFill>
          <a:ln w="25400">
            <a:solidFill>
              <a:srgbClr val="F9A0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064508" y="2167128"/>
            <a:ext cx="8778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👨‍🍳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291840" y="312724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kern="0" spc="200" dirty="0">
                <a:solidFill>
                  <a:srgbClr val="F9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657600" y="3547872"/>
            <a:ext cx="1691640" cy="27432"/>
          </a:xfrm>
          <a:prstGeom prst="rect">
            <a:avLst/>
          </a:prstGeom>
          <a:solidFill>
            <a:srgbClr val="F9A03F"/>
          </a:solidFill>
          <a:ln w="12700">
            <a:solidFill>
              <a:srgbClr val="F9A0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337560" y="361188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F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Real-time dashboard · Order tracking · Status updates · Payments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35040" y="2057400"/>
            <a:ext cx="2606040" cy="2743200"/>
          </a:xfrm>
          <a:prstGeom prst="rect">
            <a:avLst/>
          </a:prstGeom>
          <a:solidFill>
            <a:srgbClr val="0A2A3F"/>
          </a:solidFill>
          <a:ln w="19050">
            <a:solidFill>
              <a:srgbClr val="B06F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035040" y="2057400"/>
            <a:ext cx="2606040" cy="54864"/>
          </a:xfrm>
          <a:prstGeom prst="rect">
            <a:avLst/>
          </a:prstGeom>
          <a:solidFill>
            <a:srgbClr val="B06FE8"/>
          </a:solidFill>
          <a:ln w="12700">
            <a:solidFill>
              <a:srgbClr val="B06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899148" y="2148840"/>
            <a:ext cx="877824" cy="877824"/>
          </a:xfrm>
          <a:prstGeom prst="ellipse">
            <a:avLst/>
          </a:prstGeom>
          <a:solidFill>
            <a:srgbClr val="B06FE8">
              <a:alpha val="80000"/>
            </a:srgbClr>
          </a:solidFill>
          <a:ln w="25400">
            <a:solidFill>
              <a:srgbClr val="B06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99148" y="2167128"/>
            <a:ext cx="8778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🏢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126480" y="312724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kern="0" spc="200" dirty="0">
                <a:solidFill>
                  <a:srgbClr val="B06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492240" y="3547872"/>
            <a:ext cx="1691640" cy="27432"/>
          </a:xfrm>
          <a:prstGeom prst="rect">
            <a:avLst/>
          </a:prstGeom>
          <a:solidFill>
            <a:srgbClr val="B06FE8"/>
          </a:solidFill>
          <a:ln w="12700">
            <a:solidFill>
              <a:srgbClr val="B06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172200" y="361188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F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Menu management · Table setup · Analytics · Revenue reports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Experience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265176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307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69848" y="128016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Entry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69848" y="169164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0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Scan table QR to instantly join session — no app download required.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14300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0" y="1143000"/>
            <a:ext cx="265176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37560" y="1307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🍽️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950208" y="128016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Menu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950208" y="169164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0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Browse categorized items with search, filtering, and dish photos.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80760" y="114300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80760" y="1143000"/>
            <a:ext cx="265176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17920" y="1307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830568" y="128016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TasteAI Assistant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830568" y="169164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0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chat for recommendations based on budget, allergens &amp; spice preferences.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283464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0040" y="2834640"/>
            <a:ext cx="265176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2999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🛒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069848" y="29718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Ordering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069848" y="338328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0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Add items to cart with custom notes, then checkout seamlessly.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0" y="283464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00400" y="2834640"/>
            <a:ext cx="265176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337560" y="2999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💳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950208" y="29718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Payment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3950208" y="338328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0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Pay by cash or card with automatic tax calculation at checkout.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80760" y="283464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080760" y="2834640"/>
            <a:ext cx="265176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217920" y="2999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830568" y="29718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History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830568" y="338328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0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Persistent conversation memory for a personalized session experience.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9A03F"/>
          </a:solidFill>
          <a:ln w="12700">
            <a:solidFill>
              <a:srgbClr val="F9A0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Operations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0DF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2651760" cy="64008"/>
          </a:xfrm>
          <a:prstGeom prst="rect">
            <a:avLst/>
          </a:prstGeom>
          <a:solidFill>
            <a:srgbClr val="F9A03F"/>
          </a:solidFill>
          <a:ln w="12700">
            <a:solidFill>
              <a:srgbClr val="F9A0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307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69848" y="128016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69848" y="169164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0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View all active orders across every table in real-time.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14300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0DF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0" y="1143000"/>
            <a:ext cx="2651760" cy="64008"/>
          </a:xfrm>
          <a:prstGeom prst="rect">
            <a:avLst/>
          </a:prstGeom>
          <a:solidFill>
            <a:srgbClr val="F9A03F"/>
          </a:solidFill>
          <a:ln w="12700">
            <a:solidFill>
              <a:srgbClr val="F9A0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37560" y="1307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950208" y="128016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Status Flow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950208" y="169164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0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Update status: NEW → PREPARING → READY → SERVED.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80760" y="114300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0DF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80760" y="1143000"/>
            <a:ext cx="2651760" cy="64008"/>
          </a:xfrm>
          <a:prstGeom prst="rect">
            <a:avLst/>
          </a:prstGeom>
          <a:solidFill>
            <a:srgbClr val="F9A03F"/>
          </a:solidFill>
          <a:ln w="12700">
            <a:solidFill>
              <a:srgbClr val="F9A0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17920" y="1307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830568" y="128016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Alerts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830568" y="169164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0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Socket.IO push notifications when new orders arrive.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283464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0DF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0040" y="2834640"/>
            <a:ext cx="2651760" cy="64008"/>
          </a:xfrm>
          <a:prstGeom prst="rect">
            <a:avLst/>
          </a:prstGeom>
          <a:solidFill>
            <a:srgbClr val="F9A03F"/>
          </a:solidFill>
          <a:ln w="12700">
            <a:solidFill>
              <a:srgbClr val="F9A0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2999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🪑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069848" y="29718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Monitoring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069848" y="338328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0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Overview of all tables and their current occupancy status.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0" y="283464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0DF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00400" y="2834640"/>
            <a:ext cx="2651760" cy="64008"/>
          </a:xfrm>
          <a:prstGeom prst="rect">
            <a:avLst/>
          </a:prstGeom>
          <a:solidFill>
            <a:srgbClr val="F9A03F"/>
          </a:solidFill>
          <a:ln w="12700">
            <a:solidFill>
              <a:srgbClr val="F9A0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337560" y="2999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🧾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950208" y="29718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Printing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3950208" y="338328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0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Generate and print receipts for completed table sessions.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80760" y="283464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0DF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080760" y="2834640"/>
            <a:ext cx="2651760" cy="64008"/>
          </a:xfrm>
          <a:prstGeom prst="rect">
            <a:avLst/>
          </a:prstGeom>
          <a:solidFill>
            <a:srgbClr val="F9A03F"/>
          </a:solidFill>
          <a:ln w="12700">
            <a:solidFill>
              <a:srgbClr val="F9A0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217920" y="2999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830568" y="29718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Handling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830568" y="338328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0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Process cash payments with automatic change calculation.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2651760" cy="6400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307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🍕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69848" y="128016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Management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69848" y="169164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0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Full CRUD for menu items with image upload and AI data extraction.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14300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0" y="1143000"/>
            <a:ext cx="2651760" cy="6400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37560" y="1307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📂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950208" y="128016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Control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950208" y="169164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0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Organize dishes into categories for easy customer navigation.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80760" y="114300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80760" y="1143000"/>
            <a:ext cx="2651760" cy="6400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17920" y="1307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🪑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830568" y="128016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Settings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830568" y="169164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0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Configure number of tables and generate printable QR codes.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283464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0040" y="2834640"/>
            <a:ext cx="2651760" cy="6400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2999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069848" y="29718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Analytics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069848" y="338328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0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Daily/monthly revenue charts, order counts, and best-seller stats.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0" y="283464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00400" y="2834640"/>
            <a:ext cx="2651760" cy="6400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337560" y="2999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🧾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950208" y="29718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Checkout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3950208" y="338328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0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Close-of-day reports with receipt history and CSV export.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80760" y="283464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080760" y="2834640"/>
            <a:ext cx="2651760" cy="6400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217920" y="2999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830568" y="29718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Config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830568" y="338328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0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Set tax rates, currency, restaurant name, and operating hours.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TableMindAI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Multi-Agent 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FBFC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Powered by Google Gemini 2.5 Flash 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600200"/>
            <a:ext cx="2011680" cy="2651760"/>
          </a:xfrm>
          <a:prstGeom prst="rect">
            <a:avLst/>
          </a:prstGeom>
          <a:solidFill>
            <a:srgbClr val="0A2A3F"/>
          </a:solidFill>
          <a:ln w="1905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600200"/>
            <a:ext cx="201168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96112" y="1737360"/>
            <a:ext cx="768096" cy="768096"/>
          </a:xfrm>
          <a:prstGeom prst="ellipse">
            <a:avLst/>
          </a:prstGeom>
          <a:solidFill>
            <a:srgbClr val="02C39A">
              <a:alpha val="75000"/>
            </a:srgbClr>
          </a:solidFill>
          <a:ln w="190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96112" y="1755648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5760" y="26060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Agent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5800" y="3108960"/>
            <a:ext cx="1188720" cy="274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3172968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AF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Detects: budget,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BAF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allergen, category,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BAF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recommendations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331720" y="2926080"/>
            <a:ext cx="1828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331720" y="27432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2C39A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423160" y="1600200"/>
            <a:ext cx="2011680" cy="2651760"/>
          </a:xfrm>
          <a:prstGeom prst="rect">
            <a:avLst/>
          </a:prstGeom>
          <a:solidFill>
            <a:srgbClr val="0A2A3F"/>
          </a:solidFill>
          <a:ln w="19050">
            <a:solidFill>
              <a:srgbClr val="F9A03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423160" y="1600200"/>
            <a:ext cx="2011680" cy="54864"/>
          </a:xfrm>
          <a:prstGeom prst="rect">
            <a:avLst/>
          </a:prstGeom>
          <a:solidFill>
            <a:srgbClr val="F9A03F"/>
          </a:solidFill>
          <a:ln w="12700">
            <a:solidFill>
              <a:srgbClr val="F9A0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044952" y="1737360"/>
            <a:ext cx="768096" cy="768096"/>
          </a:xfrm>
          <a:prstGeom prst="ellipse">
            <a:avLst/>
          </a:prstGeom>
          <a:solidFill>
            <a:srgbClr val="F9A03F">
              <a:alpha val="75000"/>
            </a:srgbClr>
          </a:solidFill>
          <a:ln w="19050">
            <a:solidFill>
              <a:srgbClr val="F9A0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044952" y="1755648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514600" y="26060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9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Retrieval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834640" y="3108960"/>
            <a:ext cx="1188720" cy="27432"/>
          </a:xfrm>
          <a:prstGeom prst="rect">
            <a:avLst/>
          </a:prstGeom>
          <a:solidFill>
            <a:srgbClr val="F9A03F"/>
          </a:solidFill>
          <a:ln w="12700">
            <a:solidFill>
              <a:srgbClr val="F9A0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514600" y="3172968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AF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Ranks items by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BAF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semantic match &amp;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BAF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best-seller priority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480560" y="2926080"/>
            <a:ext cx="182880" cy="0"/>
          </a:xfrm>
          <a:prstGeom prst="line">
            <a:avLst/>
          </a:prstGeom>
          <a:noFill/>
          <a:ln w="25400">
            <a:solidFill>
              <a:srgbClr val="F9A0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480560" y="27432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9A03F"/>
                </a:solidFill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572000" y="1600200"/>
            <a:ext cx="2011680" cy="2651760"/>
          </a:xfrm>
          <a:prstGeom prst="rect">
            <a:avLst/>
          </a:prstGeom>
          <a:solidFill>
            <a:srgbClr val="0A2A3F"/>
          </a:solidFill>
          <a:ln w="19050">
            <a:solidFill>
              <a:srgbClr val="E05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72000" y="1600200"/>
            <a:ext cx="2011680" cy="54864"/>
          </a:xfrm>
          <a:prstGeom prst="rect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193792" y="1737360"/>
            <a:ext cx="768096" cy="768096"/>
          </a:xfrm>
          <a:prstGeom prst="ellipse">
            <a:avLst/>
          </a:prstGeom>
          <a:solidFill>
            <a:srgbClr val="E05A5A">
              <a:alpha val="75000"/>
            </a:srgbClr>
          </a:solidFill>
          <a:ln w="19050">
            <a:solidFill>
              <a:srgbClr val="E05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193792" y="1755648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663440" y="26060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Agent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983480" y="3108960"/>
            <a:ext cx="1188720" cy="27432"/>
          </a:xfrm>
          <a:prstGeom prst="rect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663440" y="3172968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AF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Checks allergens,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BAF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availability &amp;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BAF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constraints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629400" y="2926080"/>
            <a:ext cx="182880" cy="0"/>
          </a:xfrm>
          <a:prstGeom prst="line">
            <a:avLst/>
          </a:prstGeom>
          <a:noFill/>
          <a:ln w="25400">
            <a:solidFill>
              <a:srgbClr val="E05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629400" y="27432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05A5A"/>
                </a:solidFill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720840" y="1600200"/>
            <a:ext cx="2011680" cy="2651760"/>
          </a:xfrm>
          <a:prstGeom prst="rect">
            <a:avLst/>
          </a:prstGeom>
          <a:solidFill>
            <a:srgbClr val="0A2A3F"/>
          </a:solidFill>
          <a:ln w="19050">
            <a:solidFill>
              <a:srgbClr val="B06F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720840" y="1600200"/>
            <a:ext cx="2011680" cy="54864"/>
          </a:xfrm>
          <a:prstGeom prst="rect">
            <a:avLst/>
          </a:prstGeom>
          <a:solidFill>
            <a:srgbClr val="B06FE8"/>
          </a:solidFill>
          <a:ln w="12700">
            <a:solidFill>
              <a:srgbClr val="B06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342632" y="1737360"/>
            <a:ext cx="768096" cy="768096"/>
          </a:xfrm>
          <a:prstGeom prst="ellipse">
            <a:avLst/>
          </a:prstGeom>
          <a:solidFill>
            <a:srgbClr val="B06FE8">
              <a:alpha val="75000"/>
            </a:srgbClr>
          </a:solidFill>
          <a:ln w="19050">
            <a:solidFill>
              <a:srgbClr val="B06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342632" y="1755648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812280" y="26060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B06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Agent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7132320" y="3108960"/>
            <a:ext cx="1188720" cy="27432"/>
          </a:xfrm>
          <a:prstGeom prst="rect">
            <a:avLst/>
          </a:prstGeom>
          <a:solidFill>
            <a:srgbClr val="B06FE8"/>
          </a:solidFill>
          <a:ln w="12700">
            <a:solidFill>
              <a:srgbClr val="B06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812280" y="3172968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AF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Generates natural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BAF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language reply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BAF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via Gemini API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74320" y="46177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2C39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User Message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720840" y="46177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06F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Response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0233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023360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1887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Frontend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1920240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9202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1B2F"/>
                </a:solidFill>
              </a:rPr>
              <a:t>✓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68680" y="187452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 6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468880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468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1B2F"/>
                </a:solidFill>
              </a:rPr>
              <a:t>✓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242316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TailwindCSS 4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3017520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30175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1B2F"/>
                </a:solidFill>
              </a:rPr>
              <a:t>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68680" y="297180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DOM 7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566160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35661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1B2F"/>
                </a:solidFill>
              </a:rPr>
              <a:t>✓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68680" y="352044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+ Socket.IO Client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4114800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41148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1B2F"/>
                </a:solidFill>
              </a:rPr>
              <a:t>✓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68680" y="406908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API (State Mgmt)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46320" y="1188720"/>
            <a:ext cx="40233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846320" y="1188720"/>
            <a:ext cx="4023360" cy="502920"/>
          </a:xfrm>
          <a:prstGeom prst="rect">
            <a:avLst/>
          </a:prstGeom>
          <a:solidFill>
            <a:srgbClr val="F9A03F"/>
          </a:solidFill>
          <a:ln w="12700">
            <a:solidFill>
              <a:srgbClr val="F9A0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83480" y="11887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Backend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074920" y="1920240"/>
            <a:ext cx="256032" cy="256032"/>
          </a:xfrm>
          <a:prstGeom prst="ellipse">
            <a:avLst/>
          </a:prstGeom>
          <a:solidFill>
            <a:srgbClr val="F9A03F"/>
          </a:solidFill>
          <a:ln w="12700">
            <a:solidFill>
              <a:srgbClr val="F9A0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74920" y="19202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1B2F"/>
                </a:solidFill>
              </a:rPr>
              <a:t>✓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40680" y="187452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4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074920" y="2468880"/>
            <a:ext cx="256032" cy="256032"/>
          </a:xfrm>
          <a:prstGeom prst="ellipse">
            <a:avLst/>
          </a:prstGeom>
          <a:solidFill>
            <a:srgbClr val="F9A03F"/>
          </a:solidFill>
          <a:ln w="12700">
            <a:solidFill>
              <a:srgbClr val="F9A0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74920" y="2468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1B2F"/>
                </a:solidFill>
              </a:rPr>
              <a:t>✓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40680" y="242316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+ Mongoose 8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074920" y="3017520"/>
            <a:ext cx="256032" cy="256032"/>
          </a:xfrm>
          <a:prstGeom prst="ellipse">
            <a:avLst/>
          </a:prstGeom>
          <a:solidFill>
            <a:srgbClr val="F9A03F"/>
          </a:solidFill>
          <a:ln w="12700">
            <a:solidFill>
              <a:srgbClr val="F9A0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74920" y="30175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1B2F"/>
                </a:solidFill>
              </a:rPr>
              <a:t>✓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440680" y="297180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bcryptjs Auth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074920" y="3566160"/>
            <a:ext cx="256032" cy="256032"/>
          </a:xfrm>
          <a:prstGeom prst="ellipse">
            <a:avLst/>
          </a:prstGeom>
          <a:solidFill>
            <a:srgbClr val="F9A03F"/>
          </a:solidFill>
          <a:ln w="12700">
            <a:solidFill>
              <a:srgbClr val="F9A0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074920" y="35661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1B2F"/>
                </a:solidFill>
              </a:rPr>
              <a:t>✓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440680" y="352044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Real-time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074920" y="4114800"/>
            <a:ext cx="256032" cy="256032"/>
          </a:xfrm>
          <a:prstGeom prst="ellipse">
            <a:avLst/>
          </a:prstGeom>
          <a:solidFill>
            <a:srgbClr val="F9A03F"/>
          </a:solidFill>
          <a:ln w="12700">
            <a:solidFill>
              <a:srgbClr val="F9A0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074920" y="41148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1B2F"/>
                </a:solidFill>
              </a:rPr>
              <a:t>✓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440680" y="406908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 (Images)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🤖  AI: Google Gemini 2.5 Flash   |   ⚡  Real-time: Socket.IO 4   |   ☁️  Cloud: Cloudinary CDN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— Customer Journey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88620" y="1234440"/>
            <a:ext cx="1280160" cy="3566160"/>
          </a:xfrm>
          <a:prstGeom prst="rect">
            <a:avLst/>
          </a:prstGeom>
          <a:solidFill>
            <a:srgbClr val="0A2A3F"/>
          </a:solidFill>
          <a:ln w="1905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88620" y="1234440"/>
            <a:ext cx="128016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2668" y="1344168"/>
            <a:ext cx="512064" cy="51206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2668" y="1344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1B2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0060" y="198424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34340" y="271576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QR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62940" y="3200400"/>
            <a:ext cx="731520" cy="274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4340" y="3264408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F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Customer scans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AF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table QR code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77924" y="2697480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2C39A"/>
                </a:solidFill>
              </a:rPr>
              <a:t>›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805940" y="1234440"/>
            <a:ext cx="1280160" cy="3566160"/>
          </a:xfrm>
          <a:prstGeom prst="rect">
            <a:avLst/>
          </a:prstGeom>
          <a:solidFill>
            <a:srgbClr val="0A2A3F"/>
          </a:solidFill>
          <a:ln w="19050">
            <a:solidFill>
              <a:srgbClr val="F9A03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805940" y="1234440"/>
            <a:ext cx="1280160" cy="54864"/>
          </a:xfrm>
          <a:prstGeom prst="rect">
            <a:avLst/>
          </a:prstGeom>
          <a:solidFill>
            <a:srgbClr val="F9A03F"/>
          </a:solidFill>
          <a:ln w="12700">
            <a:solidFill>
              <a:srgbClr val="F9A0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189988" y="1344168"/>
            <a:ext cx="512064" cy="512064"/>
          </a:xfrm>
          <a:prstGeom prst="ellipse">
            <a:avLst/>
          </a:prstGeom>
          <a:solidFill>
            <a:srgbClr val="F9A03F"/>
          </a:solidFill>
          <a:ln w="12700">
            <a:solidFill>
              <a:srgbClr val="F9A0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189988" y="1344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1B2F"/>
                </a:solidFill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97380" y="198424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🍽️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851660" y="271576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9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Menu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080260" y="3200400"/>
            <a:ext cx="731520" cy="27432"/>
          </a:xfrm>
          <a:prstGeom prst="rect">
            <a:avLst/>
          </a:prstGeom>
          <a:solidFill>
            <a:srgbClr val="F9A03F"/>
          </a:solidFill>
          <a:ln w="12700">
            <a:solidFill>
              <a:srgbClr val="F9A0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851660" y="3264408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F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View items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AF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use AI assistant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095244" y="2697480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9A03F"/>
                </a:solidFill>
              </a:rPr>
              <a:t>›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3223260" y="1234440"/>
            <a:ext cx="1280160" cy="3566160"/>
          </a:xfrm>
          <a:prstGeom prst="rect">
            <a:avLst/>
          </a:prstGeom>
          <a:solidFill>
            <a:srgbClr val="0A2A3F"/>
          </a:solidFill>
          <a:ln w="19050">
            <a:solidFill>
              <a:srgbClr val="F0629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223260" y="1234440"/>
            <a:ext cx="1280160" cy="54864"/>
          </a:xfrm>
          <a:prstGeom prst="rect">
            <a:avLst/>
          </a:prstGeom>
          <a:solidFill>
            <a:srgbClr val="F06292"/>
          </a:solidFill>
          <a:ln w="12700">
            <a:solidFill>
              <a:srgbClr val="F0629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607308" y="1344168"/>
            <a:ext cx="512064" cy="512064"/>
          </a:xfrm>
          <a:prstGeom prst="ellipse">
            <a:avLst/>
          </a:prstGeom>
          <a:solidFill>
            <a:srgbClr val="F06292"/>
          </a:solidFill>
          <a:ln w="12700">
            <a:solidFill>
              <a:srgbClr val="F0629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607308" y="1344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1B2F"/>
                </a:solidFill>
              </a:rPr>
              <a:t>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314700" y="198424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🛒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3268980" y="271576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062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Cart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497580" y="3200400"/>
            <a:ext cx="731520" cy="27432"/>
          </a:xfrm>
          <a:prstGeom prst="rect">
            <a:avLst/>
          </a:prstGeom>
          <a:solidFill>
            <a:srgbClr val="F06292"/>
          </a:solidFill>
          <a:ln w="12700">
            <a:solidFill>
              <a:srgbClr val="F0629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268980" y="3264408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F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Select dishes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AF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with custom notes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12564" y="2697480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06292"/>
                </a:solidFill>
              </a:rPr>
              <a:t>›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4640580" y="1234440"/>
            <a:ext cx="1280160" cy="3566160"/>
          </a:xfrm>
          <a:prstGeom prst="rect">
            <a:avLst/>
          </a:prstGeom>
          <a:solidFill>
            <a:srgbClr val="0A2A3F"/>
          </a:solidFill>
          <a:ln w="19050">
            <a:solidFill>
              <a:srgbClr val="AED5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640580" y="1234440"/>
            <a:ext cx="1280160" cy="54864"/>
          </a:xfrm>
          <a:prstGeom prst="rect">
            <a:avLst/>
          </a:prstGeom>
          <a:solidFill>
            <a:srgbClr val="AED581"/>
          </a:solidFill>
          <a:ln w="12700">
            <a:solidFill>
              <a:srgbClr val="AED5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024628" y="1344168"/>
            <a:ext cx="512064" cy="512064"/>
          </a:xfrm>
          <a:prstGeom prst="ellipse">
            <a:avLst/>
          </a:prstGeom>
          <a:solidFill>
            <a:srgbClr val="AED581"/>
          </a:solidFill>
          <a:ln w="12700">
            <a:solidFill>
              <a:srgbClr val="AED5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024628" y="1344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1B2F"/>
                </a:solidFill>
              </a:rPr>
              <a:t>4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732020" y="198424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4686300" y="271576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AED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Order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914900" y="3200400"/>
            <a:ext cx="731520" cy="27432"/>
          </a:xfrm>
          <a:prstGeom prst="rect">
            <a:avLst/>
          </a:prstGeom>
          <a:solidFill>
            <a:srgbClr val="AED581"/>
          </a:solidFill>
          <a:ln w="12700">
            <a:solidFill>
              <a:srgbClr val="AED5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686300" y="3264408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F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Checkout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AF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confirm order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929884" y="2697480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ED581"/>
                </a:solidFill>
              </a:rPr>
              <a:t>›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6057900" y="1234440"/>
            <a:ext cx="1280160" cy="3566160"/>
          </a:xfrm>
          <a:prstGeom prst="rect">
            <a:avLst/>
          </a:prstGeom>
          <a:solidFill>
            <a:srgbClr val="0A2A3F"/>
          </a:solidFill>
          <a:ln w="19050">
            <a:solidFill>
              <a:srgbClr val="FFB74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057900" y="1234440"/>
            <a:ext cx="1280160" cy="54864"/>
          </a:xfrm>
          <a:prstGeom prst="rect">
            <a:avLst/>
          </a:prstGeom>
          <a:solidFill>
            <a:srgbClr val="FFB74D"/>
          </a:solidFill>
          <a:ln w="12700">
            <a:solidFill>
              <a:srgbClr val="FFB7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441948" y="1344168"/>
            <a:ext cx="512064" cy="512064"/>
          </a:xfrm>
          <a:prstGeom prst="ellipse">
            <a:avLst/>
          </a:prstGeom>
          <a:solidFill>
            <a:srgbClr val="FFB74D"/>
          </a:solidFill>
          <a:ln w="12700">
            <a:solidFill>
              <a:srgbClr val="FFB7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441948" y="1344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1B2F"/>
                </a:solidFill>
              </a:rPr>
              <a:t>5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149340" y="198424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👨‍🍳</a:t>
            </a:r>
            <a:endParaRPr lang="en-US" sz="2400" dirty="0"/>
          </a:p>
        </p:txBody>
      </p:sp>
      <p:sp>
        <p:nvSpPr>
          <p:cNvPr id="46" name="Text 44"/>
          <p:cNvSpPr/>
          <p:nvPr/>
        </p:nvSpPr>
        <p:spPr>
          <a:xfrm>
            <a:off x="6103620" y="271576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6332220" y="3200400"/>
            <a:ext cx="731520" cy="27432"/>
          </a:xfrm>
          <a:prstGeom prst="rect">
            <a:avLst/>
          </a:prstGeom>
          <a:solidFill>
            <a:srgbClr val="FFB74D"/>
          </a:solidFill>
          <a:ln w="12700">
            <a:solidFill>
              <a:srgbClr val="FFB7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103620" y="3264408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F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Staff sees order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AF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 live dashboard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347204" y="2697480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B74D"/>
                </a:solidFill>
              </a:rPr>
              <a:t>›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7475220" y="1234440"/>
            <a:ext cx="1280160" cy="3566160"/>
          </a:xfrm>
          <a:prstGeom prst="rect">
            <a:avLst/>
          </a:prstGeom>
          <a:solidFill>
            <a:srgbClr val="0A2A3F"/>
          </a:solidFill>
          <a:ln w="19050">
            <a:solidFill>
              <a:srgbClr val="CE93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7475220" y="1234440"/>
            <a:ext cx="1280160" cy="54864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7859268" y="1344168"/>
            <a:ext cx="512064" cy="512064"/>
          </a:xfrm>
          <a:prstGeom prst="ellipse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7859268" y="1344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1B2F"/>
                </a:solidFill>
              </a:rPr>
              <a:t>6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7566660" y="198424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🍱</a:t>
            </a:r>
            <a:endParaRPr lang="en-US" sz="2400" dirty="0"/>
          </a:p>
        </p:txBody>
      </p:sp>
      <p:sp>
        <p:nvSpPr>
          <p:cNvPr id="55" name="Text 53"/>
          <p:cNvSpPr/>
          <p:nvPr/>
        </p:nvSpPr>
        <p:spPr>
          <a:xfrm>
            <a:off x="7520940" y="271576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&amp; Pay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7749540" y="3200400"/>
            <a:ext cx="731520" cy="27432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7520940" y="3264408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F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Order served,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AF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payment processed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274320" y="4828032"/>
            <a:ext cx="859536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274320" y="482803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⚡  All order updates propagate instantly to staff via Socket.IO real-time events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657600" cy="3657600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2926080"/>
            <a:ext cx="3200400" cy="3200400"/>
          </a:xfrm>
          <a:prstGeom prst="ellipse">
            <a:avLst/>
          </a:prstGeom>
          <a:solidFill>
            <a:srgbClr val="1C7293">
              <a:alpha val="35000"/>
            </a:srgbClr>
          </a:solidFill>
          <a:ln w="12700">
            <a:solidFill>
              <a:srgbClr val="1C7293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0" y="274320"/>
            <a:ext cx="1645920" cy="1645920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solidFill>
              <a:srgbClr val="02C39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6400" dirty="0"/>
          </a:p>
        </p:txBody>
      </p:sp>
      <p:sp>
        <p:nvSpPr>
          <p:cNvPr id="7" name="Shape 5"/>
          <p:cNvSpPr/>
          <p:nvPr/>
        </p:nvSpPr>
        <p:spPr>
          <a:xfrm>
            <a:off x="3200400" y="1874520"/>
            <a:ext cx="27432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02C39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TableMind AI — Smart Restaurant Ordering Platform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7200" y="26700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8F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IT Project Team 3  ·  2026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4572000"/>
            <a:ext cx="85953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David Le (Backend)  ·  Mackenzie Lin (Documentation)  ·  Jonny Yu (AI)  ·  Diego Mayne (Frontend)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0" y="3291840"/>
            <a:ext cx="2194560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74720" y="32918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500" dirty="0">
                <a:solidFill>
                  <a:srgbClr val="021B2F"/>
                </a:solidFill>
              </a:rPr>
              <a:t>Q &amp; A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709</Words>
  <Application>Microsoft Office PowerPoint</Application>
  <PresentationFormat>On-screen Show (16:9)</PresentationFormat>
  <Paragraphs>212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TableMind AI - Smart Restaurant Ordering Platform</dc:title>
  <dc:subject>PptxGenJS Presentation</dc:subject>
  <dc:creator>IT Project Team 3</dc:creator>
  <cp:lastModifiedBy>Hoang Duy Le</cp:lastModifiedBy>
  <cp:revision>2</cp:revision>
  <dcterms:created xsi:type="dcterms:W3CDTF">2026-04-12T22:49:37Z</dcterms:created>
  <dcterms:modified xsi:type="dcterms:W3CDTF">2026-04-15T16:41:04Z</dcterms:modified>
</cp:coreProperties>
</file>